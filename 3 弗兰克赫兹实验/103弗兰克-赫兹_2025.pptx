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358" r:id="rId4"/>
    <p:sldId id="259" r:id="rId5"/>
    <p:sldId id="369" r:id="rId6"/>
    <p:sldId id="370" r:id="rId7"/>
    <p:sldId id="292" r:id="rId8"/>
    <p:sldId id="293" r:id="rId9"/>
    <p:sldId id="294" r:id="rId10"/>
    <p:sldId id="371" r:id="rId11"/>
    <p:sldId id="372" r:id="rId12"/>
    <p:sldId id="373" r:id="rId13"/>
    <p:sldId id="309" r:id="rId14"/>
    <p:sldId id="374" r:id="rId15"/>
    <p:sldId id="367" r:id="rId16"/>
    <p:sldId id="375" r:id="rId17"/>
    <p:sldId id="376" r:id="rId18"/>
    <p:sldId id="377" r:id="rId19"/>
    <p:sldId id="359" r:id="rId20"/>
    <p:sldId id="378" r:id="rId21"/>
    <p:sldId id="326" r:id="rId22"/>
  </p:sldIdLst>
  <p:sldSz cx="12192000" cy="6858000"/>
  <p:notesSz cx="6858000" cy="9144000"/>
  <p:defaultTextStyle>
    <a:defPPr>
      <a:defRPr lang="zh-CN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5597"/>
    <a:srgbClr val="FCF300"/>
    <a:srgbClr val="EAFF64"/>
    <a:srgbClr val="EF8136"/>
    <a:srgbClr val="EE8137"/>
    <a:srgbClr val="C55A11"/>
    <a:srgbClr val="A2A2A2"/>
    <a:srgbClr val="EBE9DC"/>
    <a:srgbClr val="5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1" autoAdjust="0"/>
    <p:restoredTop sz="87097" autoAdjust="0"/>
  </p:normalViewPr>
  <p:slideViewPr>
    <p:cSldViewPr snapToGrid="0">
      <p:cViewPr varScale="1">
        <p:scale>
          <a:sx n="100" d="100"/>
          <a:sy n="100" d="100"/>
        </p:scale>
        <p:origin x="59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2025/7/4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81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5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SimSun" panose="02010600030101010101" pitchFamily="2" charset="-122"/>
                <a:ea typeface="SimSun" panose="02010600030101010101" pitchFamily="2" charset="-122"/>
              </a:rPr>
              <a:t>500Hz</a:t>
            </a:r>
            <a:r>
              <a:rPr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更难调平衡。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48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246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677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454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77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839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313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371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363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745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我们实验室用的是高压汞灯。低压汞灯气体小于</a:t>
            </a:r>
            <a:r>
              <a:rPr lang="en-US" altLang="zh-CN" dirty="0"/>
              <a:t>1</a:t>
            </a:r>
            <a:r>
              <a:rPr lang="zh-CN" altLang="en-US" dirty="0"/>
              <a:t>个大气压  超高压汞灯 </a:t>
            </a:r>
            <a:r>
              <a:rPr lang="en-US" altLang="zh-CN" dirty="0"/>
              <a:t>&gt;10</a:t>
            </a:r>
            <a:r>
              <a:rPr lang="zh-CN" altLang="en-US" dirty="0"/>
              <a:t>个大气压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44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7EBD6-A95E-4238-9F9C-C835A399C228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26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6D95-43BE-49FE-8CE4-E02A8EFA3509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54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D39C-8E48-4660-8F43-E22D20DE1D87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32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3C7C4-0EE1-4AD4-9546-5B49CD76B7C7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4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A06D-4C49-482E-A612-BBE441E94375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98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B498-1CA0-4221-A3B5-F4BC07DFE5C2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3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259C-16F9-40F5-B0D6-8D89B0F97534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2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924F-63EE-47D2-B8B3-D699FFA3F0CB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54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E7D1-89FA-49D5-8FDB-903AD68E42E0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89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221D-9404-4F8F-B8E2-30F2D88BCB6E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61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D4E56-1F1E-4164-B2C4-8B56C5C3303B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5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F3BDC-7450-498C-9BCD-636429C42BB6}" type="datetime1">
              <a:rPr lang="zh-CN" altLang="en-US" smtClean="0"/>
              <a:t>2025/7/4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138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1"/>
            <a:tileRect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3961807" y="4833567"/>
            <a:ext cx="3046088" cy="430887"/>
            <a:chOff x="8401305" y="5760346"/>
            <a:chExt cx="3046089" cy="434414"/>
          </a:xfrm>
        </p:grpSpPr>
        <p:sp>
          <p:nvSpPr>
            <p:cNvPr id="42" name="文本框 41"/>
            <p:cNvSpPr txBox="1"/>
            <p:nvPr/>
          </p:nvSpPr>
          <p:spPr>
            <a:xfrm>
              <a:off x="8401305" y="5760346"/>
              <a:ext cx="1313180" cy="43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主讲教师</a:t>
              </a:r>
              <a:endPara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0345809" y="5760346"/>
              <a:ext cx="1101585" cy="4344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2025.06</a:t>
              </a: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785034" y="3178727"/>
            <a:ext cx="8604829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Franck-Hertz experiment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140526" y="2054772"/>
            <a:ext cx="8084129" cy="10156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kumimoji="1" lang="zh-CN" altLang="en-US" sz="6000" dirty="0">
                <a:solidFill>
                  <a:schemeClr val="bg2">
                    <a:lumMod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弗兰克</a:t>
            </a:r>
            <a:r>
              <a:rPr kumimoji="1" lang="en-US" altLang="zh-CN" sz="6000" dirty="0">
                <a:solidFill>
                  <a:schemeClr val="bg2">
                    <a:lumMod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6000" dirty="0">
                <a:solidFill>
                  <a:schemeClr val="bg2">
                    <a:lumMod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赫兹实验</a:t>
            </a:r>
            <a:endParaRPr lang="zh-CN" altLang="en-US" sz="6000" dirty="0">
              <a:ln w="0"/>
              <a:solidFill>
                <a:schemeClr val="bg2">
                  <a:lumMod val="2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物理实验教学中心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>
            <a:spLocks/>
          </p:cNvSpPr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79D4D1-3812-1C82-A8A8-3669F2436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3A5CED-B950-46D3-A922-560EEFA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53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连接符 82"/>
          <p:cNvCxnSpPr/>
          <p:nvPr/>
        </p:nvCxnSpPr>
        <p:spPr>
          <a:xfrm flipH="1">
            <a:off x="6763951" y="1365189"/>
            <a:ext cx="1" cy="54928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038455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8463" y="245327"/>
            <a:ext cx="1015655" cy="645072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lang="zh-CN" altLang="en-US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 </a:t>
            </a:r>
            <a:r>
              <a:rPr lang="en-US" altLang="zh-CN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4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5796313" y="170594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6521811" y="231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5797243" y="297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76" name="圆角矩形 75"/>
          <p:cNvSpPr/>
          <p:nvPr/>
        </p:nvSpPr>
        <p:spPr>
          <a:xfrm rot="10800000" flipV="1">
            <a:off x="6521811" y="358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5797243" y="424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78" name="圆角矩形 77"/>
          <p:cNvSpPr/>
          <p:nvPr/>
        </p:nvSpPr>
        <p:spPr>
          <a:xfrm rot="10800000" flipV="1">
            <a:off x="6521811" y="4853512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244675" y="1564948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实验背景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7676173" y="219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实验装置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248528" y="2839537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实验目的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676173" y="346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实验内容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48528" y="4109537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实验原理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7676172" y="4737401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实验拓展</a:t>
            </a:r>
          </a:p>
        </p:txBody>
      </p:sp>
      <p:sp>
        <p:nvSpPr>
          <p:cNvPr id="104" name="矩形 103"/>
          <p:cNvSpPr/>
          <p:nvPr/>
        </p:nvSpPr>
        <p:spPr>
          <a:xfrm>
            <a:off x="3125192" y="2153781"/>
            <a:ext cx="2194824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BACKGROUNDS</a:t>
            </a:r>
          </a:p>
        </p:txBody>
      </p:sp>
      <p:sp>
        <p:nvSpPr>
          <p:cNvPr id="105" name="矩形 104"/>
          <p:cNvSpPr/>
          <p:nvPr/>
        </p:nvSpPr>
        <p:spPr>
          <a:xfrm>
            <a:off x="3298498" y="3429000"/>
            <a:ext cx="18277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OBJECTIVE</a:t>
            </a:r>
          </a:p>
        </p:txBody>
      </p:sp>
      <p:sp>
        <p:nvSpPr>
          <p:cNvPr id="106" name="矩形 105"/>
          <p:cNvSpPr/>
          <p:nvPr/>
        </p:nvSpPr>
        <p:spPr>
          <a:xfrm>
            <a:off x="3375281" y="4755864"/>
            <a:ext cx="1808499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PRINCIPLE</a:t>
            </a:r>
          </a:p>
        </p:txBody>
      </p:sp>
      <p:sp>
        <p:nvSpPr>
          <p:cNvPr id="107" name="矩形 106"/>
          <p:cNvSpPr/>
          <p:nvPr/>
        </p:nvSpPr>
        <p:spPr>
          <a:xfrm>
            <a:off x="7808419" y="2804628"/>
            <a:ext cx="1766821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 DEVICE</a:t>
            </a:r>
          </a:p>
        </p:txBody>
      </p:sp>
      <p:sp>
        <p:nvSpPr>
          <p:cNvPr id="108" name="矩形 107"/>
          <p:cNvSpPr/>
          <p:nvPr/>
        </p:nvSpPr>
        <p:spPr>
          <a:xfrm>
            <a:off x="7731593" y="4074628"/>
            <a:ext cx="177964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09" name="矩形 108"/>
          <p:cNvSpPr/>
          <p:nvPr/>
        </p:nvSpPr>
        <p:spPr>
          <a:xfrm>
            <a:off x="7676173" y="5385228"/>
            <a:ext cx="21483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EXTENSTION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275708-EFCA-42F3-91B5-0B4121F4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0338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预备实验</a:t>
            </a:r>
          </a:p>
        </p:txBody>
      </p:sp>
      <p:sp>
        <p:nvSpPr>
          <p:cNvPr id="397" name="矩形 396"/>
          <p:cNvSpPr/>
          <p:nvPr/>
        </p:nvSpPr>
        <p:spPr>
          <a:xfrm>
            <a:off x="2540354" y="300156"/>
            <a:ext cx="2430016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PRE-EXPERIMENT 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6055BE-B272-4789-B418-F56C360B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94" y="1597906"/>
            <a:ext cx="3001250" cy="30788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42949" y="5295900"/>
                <a:ext cx="42274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 smtClean="0"/>
                  <a:t>打开弗兰克</a:t>
                </a:r>
                <a:r>
                  <a:rPr lang="en-US" altLang="zh-CN" sz="2400" dirty="0" smtClean="0"/>
                  <a:t>-</a:t>
                </a:r>
                <a:r>
                  <a:rPr lang="zh-CN" altLang="en-US" sz="2400" dirty="0" smtClean="0"/>
                  <a:t>赫兹管预热</a:t>
                </a:r>
                <a:endParaRPr lang="en-US" altLang="zh-CN" sz="2400" dirty="0" smtClean="0"/>
              </a:p>
              <a:p>
                <a:pPr marL="457200" indent="-457200">
                  <a:buAutoNum type="arabicPeriod"/>
                </a:pPr>
                <a:r>
                  <a:rPr lang="zh-CN" altLang="en-US" sz="2400" dirty="0" smtClean="0"/>
                  <a:t>按给定参数调节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的数值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9" y="5295900"/>
                <a:ext cx="4227421" cy="1200329"/>
              </a:xfrm>
              <a:prstGeom prst="rect">
                <a:avLst/>
              </a:prstGeom>
              <a:blipFill>
                <a:blip r:embed="rId4"/>
                <a:stretch>
                  <a:fillRect l="-2309" t="-4569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30652" y="1500220"/>
            <a:ext cx="5923454" cy="305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9"/>
          <p:cNvSpPr txBox="1"/>
          <p:nvPr/>
        </p:nvSpPr>
        <p:spPr>
          <a:xfrm>
            <a:off x="7401646" y="5295900"/>
            <a:ext cx="4227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按要求准确连线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913034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519676" y="3264361"/>
              <a:ext cx="454957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BACKGROUNDS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0FEE5B-C1E9-4025-A5F9-8DA56630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68361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5</a:t>
            </a:fld>
            <a:endParaRPr lang="zh-CN" altLang="en-US" sz="1400" b="1" dirty="0"/>
          </a:p>
        </p:txBody>
      </p: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2" name="Picture 8" descr="https://so1.360tres.com/dr/220__/t01bbc6eeb894a34f9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62" y="1387365"/>
            <a:ext cx="2650687" cy="370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658" y="1385334"/>
            <a:ext cx="3151149" cy="37092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01929" y="5212080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Gustav Hertz (1887-1975)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5145674" y="5212079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James Franck</a:t>
            </a:r>
          </a:p>
          <a:p>
            <a:r>
              <a:rPr lang="en-US" altLang="zh-CN" dirty="0" smtClean="0"/>
              <a:t>(1882-1964)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179724" y="1853738"/>
            <a:ext cx="31740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1914</a:t>
            </a:r>
            <a:r>
              <a:rPr lang="zh-CN" altLang="en-US" dirty="0" smtClean="0"/>
              <a:t>年德国物理学家弗兰克与赫兹用慢电子穿过 汞蒸气的实验，测定了汞原子的第一激发电位，从而证明了原子内部结构存在分立的定态能级。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弗兰克</a:t>
            </a:r>
            <a:r>
              <a:rPr lang="en-US" altLang="zh-CN" dirty="0" smtClean="0"/>
              <a:t>-</a:t>
            </a:r>
            <a:r>
              <a:rPr lang="zh-CN" altLang="en-US" dirty="0" smtClean="0"/>
              <a:t>赫兹实验的结果为波尔的原子理论提供了直接有力的证件，为此弗兰克与赫兹共同获得了</a:t>
            </a:r>
            <a:r>
              <a:rPr lang="en-US" altLang="zh-CN" dirty="0" smtClean="0"/>
              <a:t>1925</a:t>
            </a:r>
            <a:r>
              <a:rPr lang="zh-CN" altLang="en-US" dirty="0" smtClean="0"/>
              <a:t>年的诺贝尔物理学奖。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2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6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12" name="AutoShape 2" descr="https://timgsa.baidu.com/timg?image&amp;quality=80&amp;size=b9999_10000&amp;sec=1555591435233&amp;di=3b938dc0d6caaa0601a59eed1669c242&amp;imgtype=0&amp;src=http%3A%2F%2Fimg009.hc360.cn%2Fm2%2FM04%2F6A%2FD9%2FwKhQcVQ_0A2EM2O0AAAAAJE9nEE32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弗兰克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赫兹实验的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现代应用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科学网—量子比特的形象展示 - 刘勤的博文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943" y="1712028"/>
            <a:ext cx="2569505" cy="193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438403" y="3721117"/>
            <a:ext cx="2292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量子比特操控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500" y="1796060"/>
            <a:ext cx="3850403" cy="1767093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011445" y="3583000"/>
            <a:ext cx="338033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测量稀有气体激发态能级</a:t>
            </a:r>
            <a:endParaRPr lang="zh-CN" altLang="en-US" dirty="0"/>
          </a:p>
        </p:txBody>
      </p:sp>
      <p:pic>
        <p:nvPicPr>
          <p:cNvPr id="2052" name="Picture 4" descr="等离子体是什么？产生方式有哪些？种类介绍-三个皮匠报告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493" y="4230517"/>
            <a:ext cx="2768221" cy="184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/>
          <p:cNvSpPr txBox="1"/>
          <p:nvPr/>
        </p:nvSpPr>
        <p:spPr>
          <a:xfrm>
            <a:off x="1939699" y="6216066"/>
            <a:ext cx="282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等离子体原子动力学</a:t>
            </a:r>
            <a:endParaRPr lang="zh-CN" altLang="en-US" dirty="0"/>
          </a:p>
        </p:txBody>
      </p:sp>
      <p:pic>
        <p:nvPicPr>
          <p:cNvPr id="2056" name="Picture 8" descr="美航天局捕捉宇宙“龙卷风” 星际气体尘埃如陷漩涡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180" y="4230517"/>
            <a:ext cx="2952711" cy="178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本框 37"/>
          <p:cNvSpPr txBox="1"/>
          <p:nvPr/>
        </p:nvSpPr>
        <p:spPr>
          <a:xfrm>
            <a:off x="7527958" y="6128779"/>
            <a:ext cx="164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星际气体探测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37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D8B706-5031-427D-AB40-8FA1E740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383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-5665" y="1663363"/>
            <a:ext cx="12197665" cy="4383821"/>
          </a:xfrm>
          <a:prstGeom prst="roundRect">
            <a:avLst>
              <a:gd name="adj" fmla="val 0"/>
            </a:avLst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1581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矩形 20483">
            <a:extLst>
              <a:ext uri="{FF2B5EF4-FFF2-40B4-BE49-F238E27FC236}">
                <a16:creationId xmlns:a16="http://schemas.microsoft.com/office/drawing/2014/main" id="{F77227EB-C73C-8255-6EB0-3DA9601C3C6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16500" y="2794000"/>
            <a:ext cx="2762250" cy="476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SimSun" panose="02010600030101010101" pitchFamily="2" charset="-122"/>
              </a:rPr>
              <a:t>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87D690-4167-4747-8595-7EEA8029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949324" y="1998052"/>
            <a:ext cx="92711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zh-CN" sz="2800" dirty="0"/>
              <a:t>加深对“量子化”概念的</a:t>
            </a:r>
            <a:r>
              <a:rPr lang="zh-CN" altLang="zh-CN" sz="2800" dirty="0" smtClean="0"/>
              <a:t>认识</a:t>
            </a:r>
            <a:endParaRPr lang="en-US" altLang="zh-CN" sz="2800" dirty="0" smtClean="0"/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zh-CN" sz="2800" dirty="0"/>
              <a:t>学习关于原子碰撞激发和测量的</a:t>
            </a:r>
            <a:r>
              <a:rPr lang="zh-CN" altLang="zh-CN" sz="2800" dirty="0" smtClean="0"/>
              <a:t>方法</a:t>
            </a:r>
            <a:endParaRPr lang="en-US" altLang="zh-CN" sz="2800" dirty="0" smtClean="0"/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zh-CN" sz="2800" dirty="0"/>
              <a:t>测量氩原子的第一激发电势</a:t>
            </a:r>
            <a:endParaRPr kumimoji="1" lang="zh-CN" altLang="en-US" sz="4000" i="1" dirty="0">
              <a:solidFill>
                <a:schemeClr val="bg2">
                  <a:lumMod val="10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3353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7D5CA9-1B07-43D3-B747-53B273A6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59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10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波尔原子模型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77883" y="1832037"/>
                <a:ext cx="3865592" cy="4785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定态假设：电子只能在原子的特定轨道上运动，但并不辐射电磁波。</a:t>
                </a:r>
                <a:endParaRPr lang="en-US" altLang="zh-CN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跃迁假设：电子只能从一个轨道跃迁到另一个轨道，吸收或发射的能量是固定的。</a:t>
                </a:r>
                <a:endParaRPr lang="en-US" altLang="zh-CN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 smtClean="0"/>
                  <a:t>轨道假设：</a:t>
                </a:r>
                <a:r>
                  <a:rPr lang="zh-CN" altLang="zh-CN" dirty="0"/>
                  <a:t>在不同轨道上运动的电子能量是不同的。电子的能量是量子化的，不能处在</a:t>
                </a:r>
                <a:r>
                  <a:rPr lang="zh-CN" altLang="zh-CN" sz="2000" dirty="0"/>
                  <a:t>不同</a:t>
                </a:r>
                <a:r>
                  <a:rPr lang="zh-CN" altLang="zh-CN" dirty="0"/>
                  <a:t>轨道的能量</a:t>
                </a:r>
                <a:r>
                  <a:rPr lang="zh-CN" altLang="zh-CN" dirty="0" smtClean="0"/>
                  <a:t>之间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883" y="1832037"/>
                <a:ext cx="3865592" cy="4785926"/>
              </a:xfrm>
              <a:prstGeom prst="rect">
                <a:avLst/>
              </a:prstGeom>
              <a:blipFill>
                <a:blip r:embed="rId3"/>
                <a:stretch>
                  <a:fillRect l="-1262" t="-764" r="-1420" b="-1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811" y="2189195"/>
            <a:ext cx="6086979" cy="380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11</a:t>
            </a:fld>
            <a:endParaRPr lang="zh-CN" altLang="en-US" sz="14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4815" y="18620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18" y="1845556"/>
            <a:ext cx="4763771" cy="4886972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弗兰克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赫兹管原理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868785" y="2058422"/>
                <a:ext cx="591035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本实验中的弗兰克</a:t>
                </a:r>
                <a:r>
                  <a:rPr lang="en-US" altLang="zh-CN" dirty="0" smtClean="0"/>
                  <a:t>-</a:t>
                </a:r>
                <a:r>
                  <a:rPr lang="zh-CN" altLang="en-US" dirty="0" smtClean="0"/>
                  <a:t>赫兹管是一个具有双栅结构的充氩四极电子管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/>
                  <a:t>：灯丝电压，用于加热灯丝，使灯丝发出热电子。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第一栅极电压，用于消除空间电荷对阴极电子发射的影响，提高发射效率。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dirty="0" smtClean="0"/>
                  <a:t>：第二栅极电压或加速电压，用于使从阴极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发出的电子被加速，进入管内与氩原子碰撞。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 smtClean="0"/>
                  <a:t>: </a:t>
                </a:r>
                <a:r>
                  <a:rPr lang="zh-CN" altLang="en-US" dirty="0" smtClean="0"/>
                  <a:t>拒斥电压，用于筛选能量大于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 smtClean="0"/>
                  <a:t>电子到达阳极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i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PA </a:t>
                </a:r>
                <a:r>
                  <a:rPr lang="en-US" altLang="zh-CN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zh-CN" altLang="en-US" dirty="0" smtClean="0">
                    <a:latin typeface="+mn-ea"/>
                  </a:rPr>
                  <a:t>微电流仪</a:t>
                </a:r>
                <a:endParaRPr lang="zh-CN" altLang="en-US" i="1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785" y="2058422"/>
                <a:ext cx="5910350" cy="3970318"/>
              </a:xfrm>
              <a:prstGeom prst="rect">
                <a:avLst/>
              </a:prstGeom>
              <a:blipFill>
                <a:blip r:embed="rId4"/>
                <a:stretch>
                  <a:fillRect l="-929" t="-922" b="-1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00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9A408D54-DF5B-DB49-A20A-18A5DC14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12</a:t>
            </a:fld>
            <a:endParaRPr lang="zh-CN" altLang="en-US" sz="14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4815" y="18620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1" name="图片 2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623" y="1803411"/>
            <a:ext cx="5124272" cy="3479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21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弗兰克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赫兹管原理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本框 2"/>
          <p:cNvSpPr txBox="1">
            <a:spLocks noChangeArrowheads="1"/>
          </p:cNvSpPr>
          <p:nvPr/>
        </p:nvSpPr>
        <p:spPr bwMode="auto">
          <a:xfrm>
            <a:off x="731520" y="5143500"/>
            <a:ext cx="31496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</a:t>
            </a:r>
            <a:endParaRPr lang="zh-CN" sz="24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443450" y="1178082"/>
                <a:ext cx="591035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/>
                  <a:t>oa</a:t>
                </a:r>
                <a:r>
                  <a:rPr lang="zh-CN" altLang="en-US" sz="1600" dirty="0" smtClean="0"/>
                  <a:t>阶段：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1600" dirty="0"/>
                  <a:t>逐渐增加，电子在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zh-CN" altLang="zh-CN" sz="1600" dirty="0"/>
                  <a:t>空间获得的能量也随之增加</a:t>
                </a:r>
                <a:r>
                  <a:rPr lang="zh-CN" altLang="zh-CN" sz="1600" dirty="0" smtClean="0"/>
                  <a:t>，</a:t>
                </a:r>
                <a:r>
                  <a:rPr lang="zh-CN" altLang="en-US" sz="1600" dirty="0" smtClean="0"/>
                  <a:t>与</a:t>
                </a:r>
                <a:r>
                  <a:rPr lang="zh-CN" altLang="zh-CN" sz="1600" dirty="0" smtClean="0"/>
                  <a:t>氩</a:t>
                </a:r>
                <a:r>
                  <a:rPr lang="zh-CN" altLang="zh-CN" sz="1600" dirty="0"/>
                  <a:t>原子进行弹性碰撞，几乎不存在能量交换</a:t>
                </a:r>
                <a:r>
                  <a:rPr lang="zh-CN" altLang="zh-CN" sz="1600" dirty="0" smtClean="0"/>
                  <a:t>。此时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1600" dirty="0"/>
                  <a:t>单调增加</a:t>
                </a:r>
                <a:r>
                  <a:rPr lang="zh-CN" altLang="zh-CN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/>
              </a:p>
              <a:p>
                <a:r>
                  <a:rPr lang="en-US" altLang="zh-CN" sz="1600" dirty="0" smtClean="0"/>
                  <a:t>ab</a:t>
                </a:r>
                <a:r>
                  <a:rPr lang="zh-CN" altLang="en-US" sz="1600" dirty="0" smtClean="0"/>
                  <a:t>阶段：</a:t>
                </a:r>
                <a:r>
                  <a:rPr lang="zh-CN" altLang="zh-CN" sz="1600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1600" dirty="0"/>
                  <a:t>到达</a:t>
                </a:r>
                <a:r>
                  <a:rPr lang="en-US" altLang="zh-CN" sz="1600" dirty="0"/>
                  <a:t>a</a:t>
                </a:r>
                <a:r>
                  <a:rPr lang="zh-CN" altLang="zh-CN" sz="1600" dirty="0"/>
                  <a:t>点时</a:t>
                </a:r>
                <a:r>
                  <a:rPr lang="zh-CN" altLang="zh-CN" sz="1600" dirty="0" smtClean="0"/>
                  <a:t>，电子能量到达可</a:t>
                </a:r>
                <a:r>
                  <a:rPr lang="zh-CN" altLang="zh-CN" sz="1600" dirty="0"/>
                  <a:t>与氩原子进行非弹性碰撞的临界能量</a:t>
                </a:r>
                <a:r>
                  <a:rPr lang="zh-CN" altLang="zh-CN" sz="1600" dirty="0" smtClean="0"/>
                  <a:t>，使</a:t>
                </a:r>
                <a:r>
                  <a:rPr lang="zh-CN" altLang="zh-CN" sz="1600" dirty="0"/>
                  <a:t>氩原子跃迁至第一激发态</a:t>
                </a:r>
                <a:r>
                  <a:rPr lang="zh-CN" altLang="zh-CN" sz="1600" dirty="0" smtClean="0"/>
                  <a:t>。</a:t>
                </a:r>
                <a:r>
                  <a:rPr lang="zh-CN" altLang="en-US" sz="1600" dirty="0" smtClean="0"/>
                  <a:t>碰撞后</a:t>
                </a:r>
                <a:r>
                  <a:rPr lang="zh-CN" altLang="zh-CN" sz="1600" dirty="0" smtClean="0"/>
                  <a:t>，</a:t>
                </a:r>
                <a:r>
                  <a:rPr lang="zh-CN" altLang="zh-CN" sz="1600" dirty="0"/>
                  <a:t>电子能量减小，从而无法克服拒斥电压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到达阳极</a:t>
                </a:r>
                <a:r>
                  <a:rPr lang="en-US" altLang="zh-CN" sz="1600" dirty="0"/>
                  <a:t>A, </a:t>
                </a:r>
                <a:r>
                  <a:rPr lang="zh-CN" altLang="zh-CN" sz="1600" dirty="0"/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在</a:t>
                </a:r>
                <a:r>
                  <a:rPr lang="en-US" altLang="zh-CN" sz="1600" dirty="0"/>
                  <a:t>ab</a:t>
                </a:r>
                <a:r>
                  <a:rPr lang="zh-CN" altLang="zh-CN" sz="1600" dirty="0"/>
                  <a:t>阶段迅速减小</a:t>
                </a:r>
                <a:r>
                  <a:rPr lang="zh-CN" altLang="zh-CN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/>
              </a:p>
              <a:p>
                <a:r>
                  <a:rPr lang="en-US" altLang="zh-CN" sz="1600" dirty="0" err="1" smtClean="0"/>
                  <a:t>bc</a:t>
                </a:r>
                <a:r>
                  <a:rPr lang="zh-CN" altLang="en-US" sz="1600" dirty="0" smtClean="0"/>
                  <a:t>阶段：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1600" dirty="0"/>
                  <a:t>继续增加，使得与氩原子碰撞中损失大部分能量的电子其能量随之增加，从而可以克服拒斥电压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到达阳极</a:t>
                </a:r>
                <a:r>
                  <a:rPr lang="en-US" altLang="zh-CN" sz="1600" dirty="0"/>
                  <a:t>A</a:t>
                </a:r>
                <a:r>
                  <a:rPr lang="zh-CN" altLang="zh-CN" sz="1600" dirty="0"/>
                  <a:t>，因此此时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1600" dirty="0" smtClean="0"/>
                  <a:t>增加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/>
              </a:p>
              <a:p>
                <a:r>
                  <a:rPr lang="en-US" altLang="zh-CN" sz="1600" dirty="0" smtClean="0"/>
                  <a:t>cd</a:t>
                </a:r>
                <a:r>
                  <a:rPr lang="zh-CN" altLang="en-US" sz="1600" dirty="0" smtClean="0"/>
                  <a:t>阶段：</a:t>
                </a:r>
                <a:r>
                  <a:rPr lang="zh-CN" altLang="zh-CN" sz="1600" dirty="0"/>
                  <a:t>当碰撞后电子的能量再一次到达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𝑒𝑈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1600" dirty="0"/>
                  <a:t>时，电子再次拥有足够的能量与氩原子进行非弹性碰撞，并再次损失能量，从而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1600" dirty="0"/>
                  <a:t>在</a:t>
                </a:r>
                <a:r>
                  <a:rPr lang="en-US" altLang="zh-CN" sz="1600" dirty="0"/>
                  <a:t>cd</a:t>
                </a:r>
                <a:r>
                  <a:rPr lang="zh-CN" altLang="zh-CN" sz="1600" dirty="0"/>
                  <a:t>阶段再次减小</a:t>
                </a:r>
                <a:r>
                  <a:rPr lang="zh-CN" altLang="zh-CN" sz="1600" dirty="0" smtClean="0"/>
                  <a:t>。</a:t>
                </a:r>
                <a:endParaRPr lang="en-US" altLang="zh-CN" sz="1600" dirty="0" smtClean="0"/>
              </a:p>
              <a:p>
                <a:endParaRPr lang="en-US" altLang="zh-CN" sz="1600" dirty="0"/>
              </a:p>
              <a:p>
                <a:r>
                  <a:rPr lang="zh-CN" altLang="en-US" sz="1600" dirty="0" smtClean="0"/>
                  <a:t>接触电势差：电极材料引起</a:t>
                </a:r>
                <a:endParaRPr lang="en-US" altLang="zh-CN" sz="1600" dirty="0" smtClean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450" y="1178082"/>
                <a:ext cx="5910350" cy="4524315"/>
              </a:xfrm>
              <a:prstGeom prst="rect">
                <a:avLst/>
              </a:prstGeom>
              <a:blipFill>
                <a:blip r:embed="rId4"/>
                <a:stretch>
                  <a:fillRect l="-619" t="-404" r="-3918" b="-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2524947" y="5967169"/>
            <a:ext cx="64940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加速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非弹性碰撞损失能量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加速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50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实验装置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85781" y="3264361"/>
              <a:ext cx="361874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EXPERIMENTAL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CF6881-D9C9-4F7E-9501-8AC9AC9F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01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14</a:t>
            </a:fld>
            <a:endParaRPr lang="zh-CN" altLang="en-US" sz="1400" b="1" dirty="0"/>
          </a:p>
        </p:txBody>
      </p:sp>
      <p:pic>
        <p:nvPicPr>
          <p:cNvPr id="25" name="图片 2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6546" y="1882297"/>
            <a:ext cx="7904653" cy="3861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2576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66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C41571-FC5B-48B9-9879-3EE5843E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04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16</a:t>
            </a:fld>
            <a:endParaRPr lang="zh-CN" altLang="en-US" sz="14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基本实验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7308" y="1639432"/>
            <a:ext cx="3807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测量氩原子的第一激发电势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07975" y="2132014"/>
                <a:ext cx="11282297" cy="2169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（</a:t>
                </a:r>
                <a:r>
                  <a:rPr lang="en-US" altLang="zh-CN" kern="100" dirty="0">
                    <a:latin typeface="+mn-ea"/>
                  </a:rPr>
                  <a:t>1</a:t>
                </a:r>
                <a:r>
                  <a:rPr lang="zh-CN" altLang="zh-CN" kern="100" dirty="0">
                    <a:latin typeface="+mn-ea"/>
                  </a:rPr>
                  <a:t>）将示波器的</a:t>
                </a:r>
                <a:r>
                  <a:rPr lang="en-US" altLang="zh-CN" kern="100" dirty="0">
                    <a:latin typeface="+mn-ea"/>
                  </a:rPr>
                  <a:t>CH1</a:t>
                </a:r>
                <a:r>
                  <a:rPr lang="zh-CN" altLang="zh-CN" kern="100" dirty="0">
                    <a:latin typeface="+mn-ea"/>
                  </a:rPr>
                  <a:t>通道设置：</a:t>
                </a:r>
                <a:r>
                  <a:rPr lang="en-US" altLang="zh-CN" kern="100" dirty="0">
                    <a:latin typeface="+mn-ea"/>
                  </a:rPr>
                  <a:t>200mV/</a:t>
                </a:r>
                <a:r>
                  <a:rPr lang="zh-CN" altLang="zh-CN" kern="100" dirty="0">
                    <a:latin typeface="+mn-ea"/>
                  </a:rPr>
                  <a:t>格，</a:t>
                </a:r>
                <a:r>
                  <a:rPr lang="en-US" altLang="zh-CN" kern="100" dirty="0">
                    <a:latin typeface="+mn-ea"/>
                  </a:rPr>
                  <a:t>500μs/</a:t>
                </a:r>
                <a:r>
                  <a:rPr lang="zh-CN" altLang="zh-CN" kern="100" dirty="0">
                    <a:latin typeface="+mn-ea"/>
                  </a:rPr>
                  <a:t>格，外触发通道设置：触发类型为边沿触发。触发源为外触发输入通道，下降沿触发。触发方式为自动。</a:t>
                </a:r>
              </a:p>
              <a:p>
                <a:pPr indent="266700" algn="just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（</a:t>
                </a:r>
                <a:r>
                  <a:rPr lang="en-US" altLang="zh-CN" kern="100" dirty="0">
                    <a:latin typeface="+mn-ea"/>
                  </a:rPr>
                  <a:t>2</a:t>
                </a:r>
                <a:r>
                  <a:rPr lang="zh-CN" altLang="zh-CN" kern="100" dirty="0">
                    <a:latin typeface="+mn-ea"/>
                  </a:rPr>
                  <a:t>）确认“电源二”实验仪处于自动测量方式状态，如果不是，按一下“手动</a:t>
                </a:r>
                <a:r>
                  <a:rPr lang="en-US" altLang="zh-CN" kern="100" dirty="0">
                    <a:latin typeface="+mn-ea"/>
                  </a:rPr>
                  <a:t>/</a:t>
                </a:r>
                <a:r>
                  <a:rPr lang="zh-CN" altLang="zh-CN" kern="100" dirty="0">
                    <a:latin typeface="+mn-ea"/>
                  </a:rPr>
                  <a:t>自动”测量按键，将测量方式切换到自动测量方式，这时“自动”指示灯亮。然后按下“确认”按键，启动自动测量。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在示波器上观测波浪式爬坡曲线的形成过程。约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</a:rPr>
                  <a:t>4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分钟之后，自动测量过程结束</a:t>
                </a:r>
                <a:r>
                  <a:rPr lang="zh-CN" altLang="zh-CN" kern="100" dirty="0">
                    <a:latin typeface="+mn-ea"/>
                  </a:rPr>
                  <a:t>，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观</a:t>
                </a:r>
                <a:r>
                  <a:rPr lang="zh-CN" altLang="zh-CN" kern="100" dirty="0">
                    <a:latin typeface="+mn-ea"/>
                  </a:rPr>
                  <a:t>测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示波器上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+mn-ea"/>
                  </a:rPr>
                  <a:t>曲线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。</a:t>
                </a:r>
                <a:endParaRPr lang="zh-CN" altLang="zh-CN" kern="100" dirty="0">
                  <a:latin typeface="+mn-ea"/>
                </a:endParaRPr>
              </a:p>
              <a:p>
                <a:pPr indent="266700" algn="just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（</a:t>
                </a:r>
                <a:r>
                  <a:rPr lang="en-US" altLang="zh-CN" kern="100" dirty="0">
                    <a:latin typeface="+mn-ea"/>
                  </a:rPr>
                  <a:t>3</a:t>
                </a:r>
                <a:r>
                  <a:rPr lang="zh-CN" altLang="zh-CN" kern="100" dirty="0">
                    <a:latin typeface="+mn-ea"/>
                  </a:rPr>
                  <a:t>）数据记录与处理</a:t>
                </a:r>
              </a:p>
              <a:p>
                <a:pPr indent="266700" algn="just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自动测量结束后，“电源二”前面板的“峰值”指示灯亮，通过向上查询按键“▲”或向下查询按键“▼”查询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kern="100" dirty="0">
                    <a:latin typeface="+mn-ea"/>
                  </a:rPr>
                  <a:t> </a:t>
                </a:r>
                <a:r>
                  <a:rPr lang="zh-CN" altLang="zh-CN" kern="100" dirty="0">
                    <a:latin typeface="+mn-ea"/>
                  </a:rPr>
                  <a:t>的“峰值”。将峰值序号</a:t>
                </a:r>
                <a:r>
                  <a:rPr lang="en-US" altLang="zh-CN" kern="100" dirty="0">
                    <a:latin typeface="+mn-ea"/>
                  </a:rPr>
                  <a:t>n</a:t>
                </a:r>
                <a:r>
                  <a:rPr lang="zh-CN" altLang="zh-CN" kern="100" dirty="0">
                    <a:latin typeface="+mn-ea"/>
                  </a:rPr>
                  <a:t>、加速电压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的</a:t>
                </a:r>
                <a:r>
                  <a:rPr lang="zh-CN" altLang="zh-CN" kern="100" dirty="0">
                    <a:latin typeface="+mn-ea"/>
                  </a:rPr>
                  <a:t>值记录在表</a:t>
                </a:r>
                <a:r>
                  <a:rPr lang="en-US" altLang="zh-CN" kern="100" dirty="0">
                    <a:latin typeface="+mn-ea"/>
                  </a:rPr>
                  <a:t>1</a:t>
                </a:r>
                <a:r>
                  <a:rPr lang="zh-CN" altLang="zh-CN" kern="100" dirty="0">
                    <a:latin typeface="+mn-ea"/>
                  </a:rPr>
                  <a:t>中。用逐差法计算氩原子的第一激发电势</a:t>
                </a:r>
                <a:r>
                  <a:rPr lang="en-US" altLang="zh-CN" i="1" kern="100" dirty="0">
                    <a:latin typeface="+mn-ea"/>
                  </a:rPr>
                  <a:t>U</a:t>
                </a:r>
                <a:r>
                  <a:rPr lang="en-US" altLang="zh-CN" i="1" kern="100" baseline="-25000" dirty="0">
                    <a:latin typeface="+mn-ea"/>
                  </a:rPr>
                  <a:t>0</a:t>
                </a:r>
                <a:r>
                  <a:rPr lang="zh-CN" altLang="zh-CN" kern="100" dirty="0">
                    <a:latin typeface="+mn-ea"/>
                  </a:rPr>
                  <a:t>。重复测量</a:t>
                </a:r>
                <a:r>
                  <a:rPr lang="en-US" altLang="zh-CN" kern="100" dirty="0">
                    <a:latin typeface="+mn-ea"/>
                  </a:rPr>
                  <a:t>6</a:t>
                </a:r>
                <a:r>
                  <a:rPr lang="zh-CN" altLang="zh-CN" kern="100" dirty="0">
                    <a:latin typeface="+mn-ea"/>
                  </a:rPr>
                  <a:t>次实验。 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5" y="2132014"/>
                <a:ext cx="11282297" cy="2169825"/>
              </a:xfrm>
              <a:prstGeom prst="rect">
                <a:avLst/>
              </a:prstGeom>
              <a:blipFill>
                <a:blip r:embed="rId3"/>
                <a:stretch>
                  <a:fillRect l="-486" t="-3652" r="-486" b="-3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1509488" y="4605270"/>
          <a:ext cx="8301358" cy="14476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30359">
                  <a:extLst>
                    <a:ext uri="{9D8B030D-6E8A-4147-A177-3AD203B41FA5}">
                      <a16:colId xmlns:a16="http://schemas.microsoft.com/office/drawing/2014/main" val="2553550700"/>
                    </a:ext>
                  </a:extLst>
                </a:gridCol>
                <a:gridCol w="996457">
                  <a:extLst>
                    <a:ext uri="{9D8B030D-6E8A-4147-A177-3AD203B41FA5}">
                      <a16:colId xmlns:a16="http://schemas.microsoft.com/office/drawing/2014/main" val="2847943281"/>
                    </a:ext>
                  </a:extLst>
                </a:gridCol>
                <a:gridCol w="995407">
                  <a:extLst>
                    <a:ext uri="{9D8B030D-6E8A-4147-A177-3AD203B41FA5}">
                      <a16:colId xmlns:a16="http://schemas.microsoft.com/office/drawing/2014/main" val="905703900"/>
                    </a:ext>
                  </a:extLst>
                </a:gridCol>
                <a:gridCol w="995407">
                  <a:extLst>
                    <a:ext uri="{9D8B030D-6E8A-4147-A177-3AD203B41FA5}">
                      <a16:colId xmlns:a16="http://schemas.microsoft.com/office/drawing/2014/main" val="1855148152"/>
                    </a:ext>
                  </a:extLst>
                </a:gridCol>
                <a:gridCol w="996457">
                  <a:extLst>
                    <a:ext uri="{9D8B030D-6E8A-4147-A177-3AD203B41FA5}">
                      <a16:colId xmlns:a16="http://schemas.microsoft.com/office/drawing/2014/main" val="4002555271"/>
                    </a:ext>
                  </a:extLst>
                </a:gridCol>
                <a:gridCol w="995407">
                  <a:extLst>
                    <a:ext uri="{9D8B030D-6E8A-4147-A177-3AD203B41FA5}">
                      <a16:colId xmlns:a16="http://schemas.microsoft.com/office/drawing/2014/main" val="2651286772"/>
                    </a:ext>
                  </a:extLst>
                </a:gridCol>
                <a:gridCol w="995407">
                  <a:extLst>
                    <a:ext uri="{9D8B030D-6E8A-4147-A177-3AD203B41FA5}">
                      <a16:colId xmlns:a16="http://schemas.microsoft.com/office/drawing/2014/main" val="1544554819"/>
                    </a:ext>
                  </a:extLst>
                </a:gridCol>
                <a:gridCol w="996457">
                  <a:extLst>
                    <a:ext uri="{9D8B030D-6E8A-4147-A177-3AD203B41FA5}">
                      <a16:colId xmlns:a16="http://schemas.microsoft.com/office/drawing/2014/main" val="828965373"/>
                    </a:ext>
                  </a:extLst>
                </a:gridCol>
              </a:tblGrid>
              <a:tr h="723825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</a:rPr>
                        <a:t>峰值序号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238563"/>
                  </a:ext>
                </a:extLst>
              </a:tr>
              <a:tr h="723825"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r>
                        <a:rPr lang="en-US" sz="1400" kern="0" baseline="-25000" dirty="0">
                          <a:solidFill>
                            <a:schemeClr val="tx1"/>
                          </a:solidFill>
                          <a:effectLst/>
                        </a:rPr>
                        <a:t>G2K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zh-CN" sz="1400" kern="0" dirty="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07188"/>
                  </a:ext>
                </a:extLst>
              </a:tr>
            </a:tbl>
          </a:graphicData>
        </a:graphic>
      </p:graphicFrame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2793226" y="4200442"/>
            <a:ext cx="57338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86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90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17</a:t>
            </a:fld>
            <a:endParaRPr lang="zh-CN" altLang="en-US" sz="1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基本实验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757308" y="1639432"/>
                <a:ext cx="38072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2.</a:t>
                </a:r>
                <a:r>
                  <a:rPr lang="zh-CN" altLang="zh-CN" dirty="0"/>
                  <a:t>测量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dirty="0"/>
                  <a:t>曲线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08" y="1639432"/>
                <a:ext cx="3807229" cy="369332"/>
              </a:xfrm>
              <a:prstGeom prst="rect">
                <a:avLst/>
              </a:prstGeom>
              <a:blipFill>
                <a:blip r:embed="rId3"/>
                <a:stretch>
                  <a:fillRect l="-1280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296111" y="2222716"/>
                <a:ext cx="3117947" cy="30931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 fontAlgn="ctr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（</a:t>
                </a:r>
                <a:r>
                  <a:rPr lang="en-US" altLang="zh-CN" kern="100" dirty="0">
                    <a:latin typeface="+mn-ea"/>
                  </a:rPr>
                  <a:t>1</a:t>
                </a:r>
                <a:r>
                  <a:rPr lang="zh-CN" altLang="zh-CN" kern="100" dirty="0">
                    <a:latin typeface="+mn-ea"/>
                  </a:rPr>
                  <a:t>）确认“电源二”实验仪处于手动测量方式状态，如果不是，按 “手动</a:t>
                </a:r>
                <a:r>
                  <a:rPr lang="en-US" altLang="zh-CN" kern="100" dirty="0">
                    <a:latin typeface="+mn-ea"/>
                  </a:rPr>
                  <a:t>/</a:t>
                </a:r>
                <a:r>
                  <a:rPr lang="zh-CN" altLang="zh-CN" kern="100" dirty="0">
                    <a:latin typeface="+mn-ea"/>
                  </a:rPr>
                  <a:t>自动”测量按键，将测量方式切换到手动测量方式，这时“手动”指示灯亮。</a:t>
                </a:r>
              </a:p>
              <a:p>
                <a:pPr indent="266700" algn="just" fontAlgn="ctr">
                  <a:lnSpc>
                    <a:spcPts val="1800"/>
                  </a:lnSpc>
                  <a:spcAft>
                    <a:spcPts val="0"/>
                  </a:spcAft>
                </a:pPr>
                <a:r>
                  <a:rPr lang="zh-CN" altLang="zh-CN" kern="100" dirty="0">
                    <a:latin typeface="+mn-ea"/>
                  </a:rPr>
                  <a:t>（</a:t>
                </a:r>
                <a:r>
                  <a:rPr lang="en-US" altLang="zh-CN" kern="100" dirty="0">
                    <a:latin typeface="+mn-ea"/>
                  </a:rPr>
                  <a:t>2</a:t>
                </a:r>
                <a:r>
                  <a:rPr lang="zh-CN" altLang="zh-CN" kern="100" dirty="0">
                    <a:latin typeface="+mn-ea"/>
                  </a:rPr>
                  <a:t>）缓慢调节加速电压“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+mn-ea"/>
                  </a:rPr>
                  <a:t>调节”电位器，每隔</a:t>
                </a:r>
                <a:r>
                  <a:rPr lang="en-US" altLang="zh-CN" kern="100" dirty="0">
                    <a:latin typeface="+mn-ea"/>
                  </a:rPr>
                  <a:t>0.5V</a:t>
                </a:r>
                <a:r>
                  <a:rPr lang="zh-CN" altLang="zh-CN" kern="100" dirty="0">
                    <a:latin typeface="+mn-ea"/>
                  </a:rPr>
                  <a:t>，待电流稳定大约</a:t>
                </a:r>
                <a:r>
                  <a:rPr lang="en-US" altLang="zh-CN" kern="100" dirty="0">
                    <a:latin typeface="+mn-ea"/>
                  </a:rPr>
                  <a:t>4</a:t>
                </a:r>
                <a:r>
                  <a:rPr lang="zh-CN" altLang="zh-CN" kern="100" dirty="0">
                    <a:latin typeface="+mn-ea"/>
                  </a:rPr>
                  <a:t>秒钟后读取微电流显示值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</a:rPr>
                  <a:t>并</a:t>
                </a:r>
                <a:r>
                  <a:rPr lang="zh-CN" altLang="zh-CN" kern="100" dirty="0">
                    <a:latin typeface="+mn-ea"/>
                  </a:rPr>
                  <a:t>记录在表</a:t>
                </a:r>
                <a:r>
                  <a:rPr lang="en-US" altLang="zh-CN" kern="100" dirty="0">
                    <a:latin typeface="+mn-ea"/>
                  </a:rPr>
                  <a:t>2</a:t>
                </a:r>
                <a:r>
                  <a:rPr lang="zh-CN" altLang="zh-CN" kern="100" dirty="0">
                    <a:latin typeface="+mn-ea"/>
                  </a:rPr>
                  <a:t>中。为把峰值和谷值测准，在峰谷值附近可多测几组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kern="100" dirty="0">
                    <a:latin typeface="+mn-ea"/>
                  </a:rPr>
                  <a:t>值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111" y="2222716"/>
                <a:ext cx="3117947" cy="3093154"/>
              </a:xfrm>
              <a:prstGeom prst="rect">
                <a:avLst/>
              </a:prstGeom>
              <a:blipFill>
                <a:blip r:embed="rId4"/>
                <a:stretch>
                  <a:fillRect l="-1761" t="-2170" r="-8806" b="-2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202719" y="1451988"/>
            <a:ext cx="573388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86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marL="0" marR="0" lvl="0" indent="2286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600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F1F2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   V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600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G1K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   V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1600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G2A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   V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521499" y="2173692"/>
          <a:ext cx="3919914" cy="3041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957">
                  <a:extLst>
                    <a:ext uri="{9D8B030D-6E8A-4147-A177-3AD203B41FA5}">
                      <a16:colId xmlns:a16="http://schemas.microsoft.com/office/drawing/2014/main" val="1299584342"/>
                    </a:ext>
                  </a:extLst>
                </a:gridCol>
                <a:gridCol w="1959957">
                  <a:extLst>
                    <a:ext uri="{9D8B030D-6E8A-4147-A177-3AD203B41FA5}">
                      <a16:colId xmlns:a16="http://schemas.microsoft.com/office/drawing/2014/main" val="2235179565"/>
                    </a:ext>
                  </a:extLst>
                </a:gridCol>
              </a:tblGrid>
              <a:tr h="374543">
                <a:tc>
                  <a:txBody>
                    <a:bodyPr/>
                    <a:lstStyle/>
                    <a:p>
                      <a:r>
                        <a:rPr lang="en-US" altLang="zh-CN" sz="1800" b="1" i="1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</a:t>
                      </a:r>
                      <a:r>
                        <a:rPr lang="en-US" altLang="zh-CN" sz="1800" b="1" i="1" kern="1200" baseline="-250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</a:t>
                      </a:r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(</a:t>
                      </a:r>
                      <a:r>
                        <a:rPr lang="en-US" altLang="zh-CN" sz="1800" b="1" kern="1200" dirty="0" err="1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nA</a:t>
                      </a:r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i="1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</a:t>
                      </a:r>
                      <a:r>
                        <a:rPr lang="en-US" altLang="zh-CN" sz="1800" b="1" i="1" kern="1200" baseline="-250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G2K</a:t>
                      </a:r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(V)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35073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49940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081038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287887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59652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25887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2691"/>
                  </a:ext>
                </a:extLst>
              </a:tr>
              <a:tr h="37454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83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08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276109" y="1235904"/>
            <a:ext cx="6003722" cy="77158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数据处理与分析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None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3F5F3D2A-2822-3045-8E97-FEC8B323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pPr/>
              <a:t>18</a:t>
            </a:fld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47221" y="1855254"/>
                <a:ext cx="1105244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表格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的数据，使用逐差法求氩原子第一激发电势，并计算不确定度。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根据表格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的数据，使用数据处理软件绘制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曲线。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根据表格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的数据，得出接触电势差。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21" y="1855254"/>
                <a:ext cx="11052442" cy="1569660"/>
              </a:xfrm>
              <a:prstGeom prst="rect">
                <a:avLst/>
              </a:prstGeom>
              <a:blipFill>
                <a:blip r:embed="rId3"/>
                <a:stretch>
                  <a:fillRect l="-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内容占位符 2"/>
          <p:cNvSpPr txBox="1">
            <a:spLocks/>
          </p:cNvSpPr>
          <p:nvPr/>
        </p:nvSpPr>
        <p:spPr>
          <a:xfrm>
            <a:off x="276109" y="3645810"/>
            <a:ext cx="6003722" cy="519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注意事项</a:t>
            </a:r>
            <a:endParaRPr kumimoji="1"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charset="2"/>
              <a:buAutoNum type="circleNumWdBlackPlain"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charset="2"/>
              <a:buAutoNum type="circleNumWdBlackPlain"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隶书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7221" y="4313892"/>
            <a:ext cx="116841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仪器通电前，确保连线正确。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开始前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，弗兰克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赫兹管需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预热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分钟。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每次测量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前都需要对仪器调零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弗兰克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赫兹管每次连续使用时间不要超过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小时。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34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2" grpId="0"/>
      <p:bldP spid="2" grpId="0"/>
      <p:bldP spid="24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6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实验拓展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824671" y="3323907"/>
              <a:ext cx="428110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EXPERIMENTAL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EXTENSION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EABD08-E30A-403F-A0F2-54C09AF0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6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33"/>
          <p:cNvSpPr/>
          <p:nvPr/>
        </p:nvSpPr>
        <p:spPr>
          <a:xfrm>
            <a:off x="-5665" y="1116212"/>
            <a:ext cx="12197665" cy="524013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>
                <a:latin typeface="+mn-ea"/>
              </a:rPr>
              <a:t>4</a:t>
            </a:r>
            <a:endParaRPr lang="zh-CN" altLang="en-US" sz="3600" dirty="0">
              <a:latin typeface="+mn-ea"/>
            </a:endParaRPr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800736" y="324999"/>
            <a:ext cx="2803965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  <a:latin typeface="+mn-ea"/>
                </a:endParaRPr>
              </a:p>
            </p:txBody>
          </p:sp>
        </p:grpSp>
      </p:grpSp>
      <p:sp>
        <p:nvSpPr>
          <p:cNvPr id="26" name="灯片编号占位符 3">
            <a:extLst>
              <a:ext uri="{FF2B5EF4-FFF2-40B4-BE49-F238E27FC236}">
                <a16:creationId xmlns:a16="http://schemas.microsoft.com/office/drawing/2014/main" id="{07FF9F87-52C7-E04D-AC3B-05356A19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+mn-ea"/>
              </a:rPr>
              <a:pPr/>
              <a:t>20</a:t>
            </a:fld>
            <a:endParaRPr lang="zh-CN" altLang="en-US" sz="1400" b="1" dirty="0">
              <a:latin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07975" y="1072280"/>
            <a:ext cx="5717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拓展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实验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190016" y="2737367"/>
                <a:ext cx="6829370" cy="2215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algn="just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sz="2400" kern="100" dirty="0" smtClean="0">
                    <a:solidFill>
                      <a:srgbClr val="000000"/>
                    </a:solidFill>
                    <a:latin typeface="+mn-ea"/>
                  </a:rPr>
                  <a:t>探究</a:t>
                </a:r>
                <a:r>
                  <a:rPr lang="zh-CN" altLang="zh-CN" sz="2400" kern="100" dirty="0">
                    <a:solidFill>
                      <a:srgbClr val="000000"/>
                    </a:solidFill>
                    <a:latin typeface="+mn-ea"/>
                  </a:rPr>
                  <a:t>灯丝电压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rgbClr val="000000"/>
                    </a:solidFill>
                    <a:latin typeface="+mn-ea"/>
                  </a:rPr>
                  <a:t>大小对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400" b="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solidFill>
                      <a:srgbClr val="000000"/>
                    </a:solidFill>
                    <a:latin typeface="+mn-ea"/>
                  </a:rPr>
                  <a:t>曲线的</a:t>
                </a:r>
                <a:r>
                  <a:rPr lang="zh-CN" altLang="zh-CN" sz="2400" kern="100" dirty="0" smtClean="0">
                    <a:solidFill>
                      <a:srgbClr val="000000"/>
                    </a:solidFill>
                    <a:latin typeface="+mn-ea"/>
                  </a:rPr>
                  <a:t>影响</a:t>
                </a:r>
                <a:endParaRPr lang="en-US" altLang="zh-CN" sz="2400" kern="100" dirty="0" smtClean="0">
                  <a:solidFill>
                    <a:srgbClr val="000000"/>
                  </a:solidFill>
                  <a:latin typeface="+mn-ea"/>
                </a:endParaRPr>
              </a:p>
              <a:p>
                <a:pPr marL="342900" indent="-342900" algn="just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altLang="zh-CN" sz="2400" kern="100" dirty="0" smtClean="0">
                  <a:solidFill>
                    <a:srgbClr val="000000"/>
                  </a:solidFill>
                  <a:latin typeface="+mn-ea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zh-CN" altLang="zh-CN" sz="2400" dirty="0" smtClean="0">
                    <a:latin typeface="+mn-ea"/>
                  </a:rPr>
                  <a:t>探究</a:t>
                </a:r>
                <a:r>
                  <a:rPr lang="zh-CN" altLang="zh-CN" sz="2400" dirty="0">
                    <a:latin typeface="+mn-ea"/>
                  </a:rPr>
                  <a:t>栅极电压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+mn-ea"/>
                  </a:rPr>
                  <a:t>大小对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+mn-ea"/>
                  </a:rPr>
                  <a:t>曲线的</a:t>
                </a:r>
                <a:r>
                  <a:rPr lang="zh-CN" altLang="zh-CN" sz="2400" dirty="0" smtClean="0">
                    <a:latin typeface="+mn-ea"/>
                  </a:rPr>
                  <a:t>影响</a:t>
                </a:r>
                <a:endParaRPr lang="en-US" altLang="zh-CN" sz="2400" dirty="0" smtClean="0">
                  <a:latin typeface="+mn-ea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altLang="zh-CN" sz="2400" dirty="0" smtClean="0">
                  <a:latin typeface="+mn-ea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latin typeface="+mn-ea"/>
                  </a:rPr>
                  <a:t>探究拒斥电压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+mn-ea"/>
                  </a:rPr>
                  <a:t>大小对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+mn-ea"/>
                  </a:rPr>
                  <a:t>曲线的影响</a:t>
                </a:r>
              </a:p>
              <a:p>
                <a:pPr marL="342900" indent="-342900" algn="just">
                  <a:spcAft>
                    <a:spcPts val="0"/>
                  </a:spcAft>
                  <a:buAutoNum type="ea1ChsPeriod"/>
                </a:pPr>
                <a:endParaRPr lang="zh-CN" altLang="zh-CN" kern="1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016" y="2737367"/>
                <a:ext cx="6829370" cy="2215991"/>
              </a:xfrm>
              <a:prstGeom prst="rect">
                <a:avLst/>
              </a:prstGeom>
              <a:blipFill>
                <a:blip r:embed="rId3"/>
                <a:stretch>
                  <a:fillRect l="-1160" t="-1923" r="-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45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4743572" y="2334007"/>
            <a:ext cx="2441690" cy="144654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5325780" y="3999466"/>
            <a:ext cx="1277273" cy="542995"/>
            <a:chOff x="9609968" y="5697100"/>
            <a:chExt cx="1277273" cy="547438"/>
          </a:xfrm>
        </p:grpSpPr>
        <p:sp>
          <p:nvSpPr>
            <p:cNvPr id="51" name="文本框 50"/>
            <p:cNvSpPr txBox="1"/>
            <p:nvPr/>
          </p:nvSpPr>
          <p:spPr>
            <a:xfrm>
              <a:off x="9609968" y="5779095"/>
              <a:ext cx="184666" cy="46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endParaRPr lang="en-US" altLang="zh-CN" sz="24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9702301" y="5697100"/>
              <a:ext cx="1184940" cy="465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2025.06</a:t>
              </a: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3097457" y="4629286"/>
            <a:ext cx="5910620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1800" b="1" spc="600" dirty="0" smtClean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pitchFamily="34" charset="0"/>
                <a:cs typeface="Segoe UI Semilight" panose="020B0402040204020203" pitchFamily="34" charset="0"/>
              </a:rPr>
              <a:t>弗兰克</a:t>
            </a:r>
            <a:r>
              <a:rPr lang="en-US" altLang="zh-CN" sz="1800" b="1" spc="600" dirty="0" smtClean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pitchFamily="34" charset="0"/>
                <a:cs typeface="Segoe UI Semilight" panose="020B0402040204020203" pitchFamily="34" charset="0"/>
              </a:rPr>
              <a:t>-</a:t>
            </a:r>
            <a:r>
              <a:rPr lang="zh-CN" altLang="en-US" sz="1800" b="1" spc="600" dirty="0" smtClean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pitchFamily="34" charset="0"/>
                <a:cs typeface="Segoe UI Semilight" panose="020B0402040204020203" pitchFamily="34" charset="0"/>
              </a:rPr>
              <a:t>赫兹实验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LISTENING 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>
            <a:spLocks/>
          </p:cNvSpPr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A4B7DF-59FA-42F9-A36B-0D2848B4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9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19287</TotalTime>
  <Words>838</Words>
  <Application>Microsoft Office PowerPoint</Application>
  <PresentationFormat>宽屏</PresentationFormat>
  <Paragraphs>222</Paragraphs>
  <Slides>21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Eras Light ITC</vt:lpstr>
      <vt:lpstr>SimHei</vt:lpstr>
      <vt:lpstr>SimHei</vt:lpstr>
      <vt:lpstr>楷体</vt:lpstr>
      <vt:lpstr>隶书</vt:lpstr>
      <vt:lpstr>宋体</vt:lpstr>
      <vt:lpstr>宋体</vt:lpstr>
      <vt:lpstr>微软雅黑</vt:lpstr>
      <vt:lpstr>Arial</vt:lpstr>
      <vt:lpstr>Calibri</vt:lpstr>
      <vt:lpstr>Cambria</vt:lpstr>
      <vt:lpstr>Cambria Math</vt:lpstr>
      <vt:lpstr>Century Gothic</vt:lpstr>
      <vt:lpstr>Segoe UI Semilight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 PLUS</dc:creator>
  <cp:keywords/>
  <dc:description/>
  <cp:lastModifiedBy>ZJU</cp:lastModifiedBy>
  <cp:revision>853</cp:revision>
  <dcterms:created xsi:type="dcterms:W3CDTF">2015-04-07T16:28:23Z</dcterms:created>
  <dcterms:modified xsi:type="dcterms:W3CDTF">2025-07-04T01:30:34Z</dcterms:modified>
  <cp:category/>
</cp:coreProperties>
</file>